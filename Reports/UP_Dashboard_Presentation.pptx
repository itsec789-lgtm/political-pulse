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8229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4937760" cy="3375954"/>
          </a:xfrm>
          <a:prstGeom prst="rect">
            <a:avLst/>
          </a:prstGeom>
          <a:ln w="19050">
            <a:solidFill>
              <a:srgbClr val="E65100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1828800"/>
            <a:ext cx="5852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9933"/>
                </a:solidFill>
                <a:latin typeface="Cambria"/>
              </a:rPr>
              <a:t>UTTAR PRADESH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9933"/>
                </a:solidFill>
                <a:latin typeface="Cambria"/>
              </a:rPr>
              <a:t>POLITICAL PULSE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E8D9C8"/>
                </a:solidFill>
                <a:latin typeface="Calibri"/>
              </a:rPr>
              <a:t>X (Twitter) Analytics Dashboard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B9A791"/>
                </a:solidFill>
                <a:latin typeface="Calibri"/>
              </a:rPr>
              <a:t>A deep-dive into every tab, module and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5100"/>
                </a:solidFill>
                <a:latin typeface="Calibri"/>
              </a:rPr>
              <a:t>1,56,136 tweets   ·   545 handles   ·   75 districts   ·   Apr–Aug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8031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E65100"/>
                </a:solidFill>
                <a:latin typeface="Calibri"/>
              </a:rPr>
              <a:t>INDIA POLITICAL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14300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9933"/>
                </a:solidFill>
                <a:latin typeface="Cambria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E8D9C8"/>
                </a:solidFill>
                <a:latin typeface="Calibri"/>
              </a:rPr>
              <a:t>Uttar Pradesh Political Pulse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B9A791"/>
                </a:solidFill>
                <a:latin typeface="Calibri"/>
              </a:rPr>
              <a:t>X (Twitter) Analytics Dashboard</a:t>
            </a:r>
          </a:p>
        </p:txBody>
      </p:sp>
      <p:pic>
        <p:nvPicPr>
          <p:cNvPr id="7" name="Picture 6" descr="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2880360" cy="2382633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0" y="6766560"/>
            <a:ext cx="1386840" cy="9144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86840" y="6766560"/>
            <a:ext cx="138684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3680" y="6766560"/>
            <a:ext cx="1386840" cy="9144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868680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886968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Introduction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93208" y="1435607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26280" y="1527048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545336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Numbers at a Glance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93208" y="2093976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26280" y="2185415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203703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The Loader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93208" y="2752344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526280" y="2843784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2862072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The Ten Tabs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93208" y="3410712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526280" y="3502152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3520440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Overview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93208" y="4069080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26280" y="4160520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8" y="4178807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Top Leaders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93208" y="4727448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26280" y="4818888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4837176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UP District Map + Viral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93208" y="5385816"/>
            <a:ext cx="2862071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526280" y="5477256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8" y="5495544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MLA Tracker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868680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886968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Hashtags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96528" y="1435607"/>
            <a:ext cx="2862072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229600" y="1527048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1545336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Sentiment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96528" y="2093976"/>
            <a:ext cx="2862072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229600" y="2185415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96528" y="2203703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Parties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96528" y="2752344"/>
            <a:ext cx="2862072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229600" y="2843784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2862072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Growth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96528" y="3410712"/>
            <a:ext cx="2862072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29600" y="3502152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96528" y="3520440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Profiles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96528" y="4069080"/>
            <a:ext cx="2862072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229600" y="4160520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6528" y="4178807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324F"/>
                </a:solidFill>
                <a:latin typeface="Cambria"/>
              </a:rPr>
              <a:t>Data-Driven Filters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796528" y="4727448"/>
            <a:ext cx="2862072" cy="0"/>
          </a:xfrm>
          <a:prstGeom prst="line">
            <a:avLst/>
          </a:prstGeom>
          <a:ln w="9525">
            <a:solidFill>
              <a:srgbClr val="EDE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229600" y="4818888"/>
            <a:ext cx="420624" cy="420624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96528" y="4837176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65100"/>
                </a:solidFill>
                <a:latin typeface="Cambria"/>
              </a:rPr>
              <a:t>Reports  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What is Uttar Pradesh Political Pulse?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One live, filterable view of UP’s political conversation on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1264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An interactive analytics dashboard that tracks the political conversation on </a:t>
            </a:r>
            <a:r>
              <a:rPr sz="1400" b="1" i="0">
                <a:solidFill>
                  <a:srgbClr val="E65100"/>
                </a:solidFill>
                <a:latin typeface="Calibri"/>
              </a:rPr>
              <a:t>X (Twitter)</a:t>
            </a:r>
            <a:r>
              <a:rPr sz="1400" b="0" i="0">
                <a:solidFill>
                  <a:srgbClr val="222222"/>
                </a:solidFill>
                <a:latin typeface="Calibri"/>
              </a:rPr>
              <a:t> across Uttar Pradesh.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It brings together every tweet from tracked political handles — MPs, MLAs, MLCs, the Chief Minister and Deputy CMs — into a single explorable view.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1">
                <a:solidFill>
                  <a:srgbClr val="16324F"/>
                </a:solidFill>
                <a:latin typeface="Calibri"/>
              </a:rPr>
              <a:t>Who is saying what · how much reach &amp; engagement · the sentiment behind it · and how it shifts by party, district and date.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Organised into </a:t>
            </a:r>
            <a:r>
              <a:rPr sz="1350" b="1" i="0">
                <a:solidFill>
                  <a:srgbClr val="E65100"/>
                </a:solidFill>
                <a:latin typeface="Calibri"/>
              </a:rPr>
              <a:t>ten focused tabs</a:t>
            </a:r>
            <a:r>
              <a:rPr sz="1350" b="0" i="0">
                <a:solidFill>
                  <a:srgbClr val="222222"/>
                </a:solidFill>
                <a:latin typeface="Calibri"/>
              </a:rPr>
              <a:t>, each answering a specific question — from headline numbers to a single leader’s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00200"/>
            <a:ext cx="4206240" cy="4480560"/>
          </a:xfrm>
          <a:prstGeom prst="roundRect">
            <a:avLst>
              <a:gd name="adj" fmla="val 6000"/>
            </a:avLst>
          </a:prstGeom>
          <a:solidFill>
            <a:srgbClr val="1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28800"/>
            <a:ext cx="3566160" cy="2949927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7315200" y="57607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6B6B"/>
                </a:solidFill>
                <a:latin typeface="Calibri"/>
              </a:rPr>
              <a:t>The loader — a live glowing map of all 75 UP districts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The Numbers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Headline KPI cards, each with a live sparkline trend</a:t>
            </a:r>
          </a:p>
        </p:txBody>
      </p:sp>
      <p:pic>
        <p:nvPicPr>
          <p:cNvPr id="6" name="Picture 5" descr="s_kpi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2461035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4426995"/>
            <a:ext cx="181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65100"/>
                </a:solidFill>
                <a:latin typeface="Cambria"/>
              </a:rPr>
              <a:t>1.6 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Total tweets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3640" y="4426995"/>
            <a:ext cx="181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65100"/>
                </a:solidFill>
                <a:latin typeface="Cambria"/>
              </a:rPr>
              <a:t>2.54 Cr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Total likes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200" y="4426995"/>
            <a:ext cx="181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65100"/>
                </a:solidFill>
                <a:latin typeface="Cambria"/>
              </a:rPr>
              <a:t>10.11 Cr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Retweets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4426995"/>
            <a:ext cx="181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65100"/>
                </a:solidFill>
                <a:latin typeface="Cambria"/>
              </a:rPr>
              <a:t>160.38 Cr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Total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4320" y="4426995"/>
            <a:ext cx="181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65100"/>
                </a:solidFill>
                <a:latin typeface="Cambria"/>
              </a:rPr>
              <a:t>10.3 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Avg views/tweet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7880" y="4426995"/>
            <a:ext cx="1813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E65100"/>
                </a:solidFill>
                <a:latin typeface="Cambria"/>
              </a:rPr>
              <a:t>163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Avg likes/tweet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16324F"/>
                </a:solidFill>
                <a:latin typeface="Calibri"/>
              </a:rPr>
              <a:t>Every card responds to the active date range — pick "Last 7 Days" and the whole strip recalculates.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9933"/>
                </a:solidFill>
                <a:latin typeface="Cambria"/>
              </a:rPr>
              <a:t>The Loader — a living map of Uttar Pradesh</a:t>
            </a:r>
          </a:p>
        </p:txBody>
      </p:sp>
      <p:pic>
        <p:nvPicPr>
          <p:cNvPr id="4" name="Picture 3" descr="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858704" cy="4846320"/>
          </a:xfrm>
          <a:prstGeom prst="rect">
            <a:avLst/>
          </a:prstGeom>
          <a:ln w="15240">
            <a:solidFill>
              <a:srgbClr val="E65100"/>
            </a:solidFill>
          </a:ln>
          <a:effectLst/>
        </p:spPr>
      </p:pic>
      <p:sp>
        <p:nvSpPr>
          <p:cNvPr id="5" name="Oval 4"/>
          <p:cNvSpPr/>
          <p:nvPr/>
        </p:nvSpPr>
        <p:spPr>
          <a:xfrm>
            <a:off x="7138864" y="1581912"/>
            <a:ext cx="164592" cy="16459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13184" y="1508760"/>
            <a:ext cx="44127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9933"/>
                </a:solidFill>
                <a:latin typeface="Cambria"/>
              </a:rPr>
              <a:t>Glowing 75-district map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C2B2"/>
                </a:solidFill>
                <a:latin typeface="Calibri"/>
              </a:rPr>
              <a:t>Every UP district outlined, city markers pulsing</a:t>
            </a:r>
          </a:p>
        </p:txBody>
      </p:sp>
      <p:sp>
        <p:nvSpPr>
          <p:cNvPr id="7" name="Oval 6"/>
          <p:cNvSpPr/>
          <p:nvPr/>
        </p:nvSpPr>
        <p:spPr>
          <a:xfrm>
            <a:off x="7138864" y="2724912"/>
            <a:ext cx="164592" cy="16459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3184" y="2651760"/>
            <a:ext cx="44127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9933"/>
                </a:solidFill>
                <a:latin typeface="Cambria"/>
              </a:rPr>
              <a:t>Ashoka Chakra motif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C2B2"/>
                </a:solidFill>
                <a:latin typeface="Calibri"/>
              </a:rPr>
              <a:t>Rotating chakra rings at the centre</a:t>
            </a:r>
          </a:p>
        </p:txBody>
      </p:sp>
      <p:sp>
        <p:nvSpPr>
          <p:cNvPr id="9" name="Oval 8"/>
          <p:cNvSpPr/>
          <p:nvPr/>
        </p:nvSpPr>
        <p:spPr>
          <a:xfrm>
            <a:off x="7138864" y="3867912"/>
            <a:ext cx="164592" cy="16459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3184" y="3794760"/>
            <a:ext cx="44127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9933"/>
                </a:solidFill>
                <a:latin typeface="Cambria"/>
              </a:rPr>
              <a:t>Tricolour strip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C2B2"/>
                </a:solidFill>
                <a:latin typeface="Calibri"/>
              </a:rPr>
              <a:t>Saffron–white–green identity across the top</a:t>
            </a:r>
          </a:p>
        </p:txBody>
      </p:sp>
      <p:sp>
        <p:nvSpPr>
          <p:cNvPr id="11" name="Oval 10"/>
          <p:cNvSpPr/>
          <p:nvPr/>
        </p:nvSpPr>
        <p:spPr>
          <a:xfrm>
            <a:off x="7138864" y="5010912"/>
            <a:ext cx="164592" cy="16459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3184" y="4937760"/>
            <a:ext cx="44127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9933"/>
                </a:solidFill>
                <a:latin typeface="Cambria"/>
              </a:rPr>
              <a:t>Live headline stats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FC2B2"/>
                </a:solidFill>
                <a:latin typeface="Calibri"/>
              </a:rPr>
              <a:t>Tweets · Handles · Views · Districts, shown while loading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#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The Ten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Each answers a specific question — explored one by one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709928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0020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92024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Headline KPIs, trends &amp;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14016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266090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55117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Top Leaders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87121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Ranked by avg views per 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64992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" y="3611880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0215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UP District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822191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75 districts + top viral tweets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15968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562856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45312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MLA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477316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Activity of individual MLAs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66944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5513831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40410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Hashtags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572414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Trending tags, ranked by reach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63040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01383" y="1709928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160020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Sentiment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192024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Positive / Neutral / Negative mix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414016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01383" y="266090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255117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Parties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287121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Top-5 party cards + live filters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364992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01383" y="3611880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350215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3822191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Followers &amp; engagement over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315968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01383" y="4562856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445312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Cambria"/>
              </a:rPr>
              <a:t>Profiles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477316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CM, Dy CMs &amp; key leaders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266944"/>
            <a:ext cx="5257800" cy="877824"/>
          </a:xfrm>
          <a:prstGeom prst="roundRect">
            <a:avLst>
              <a:gd name="adj" fmla="val 6000"/>
            </a:avLst>
          </a:prstGeom>
          <a:solidFill>
            <a:srgbClr val="FBFAF8"/>
          </a:solidFill>
          <a:ln w="12700">
            <a:solidFill>
              <a:srgbClr val="E6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01383" y="5513831"/>
            <a:ext cx="384048" cy="38404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8312" y="540410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Reports  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8312" y="572414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Type a topic → instant PDF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Overview — Trends &amp;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The command-centre landing view</a:t>
            </a:r>
          </a:p>
        </p:txBody>
      </p:sp>
      <p:pic>
        <p:nvPicPr>
          <p:cNvPr id="6" name="Picture 5" descr="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858000" cy="3169227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909559" y="1691640"/>
            <a:ext cx="373349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Six coordinated visuals + KPI strip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Daily Activity — tweets &amp; avg views/post over time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Tweet Share by Party — top-5 party donut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Sentiment Mix — pos / neu / neg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Engagement — Likes vs Retweets trend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Top Performers (avg views) &amp; Most Active (volume)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59" y="5532120"/>
            <a:ext cx="373349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39" y="5650992"/>
            <a:ext cx="33677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One screen to read the entire conversation for any date range.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Top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Who is actually breaking through</a:t>
            </a:r>
          </a:p>
        </p:txBody>
      </p:sp>
      <p:pic>
        <p:nvPicPr>
          <p:cNvPr id="6" name="Picture 5" descr="mk_l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766560" cy="3379508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18119" y="1691640"/>
            <a:ext cx="38249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Ranked by average views per post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Reach-per-post ranking — not just raw volume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Filter by level: LS/RS MP, MLA, MLC, CM, Dy CM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Filter by party to compare within a bloc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Surfaces the highest-impact individual voices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19" y="5532120"/>
            <a:ext cx="382493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5650992"/>
            <a:ext cx="34591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Narendra Modi (14.9 L avg) and Rahul Gandhi (6.3 L) lead on reach per post.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UP District Map + Viral Tweets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Geography meets the biggest posts</a:t>
            </a:r>
          </a:p>
        </p:txBody>
      </p:sp>
      <p:pic>
        <p:nvPicPr>
          <p:cNvPr id="6" name="Picture 5" descr="s_vi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949440" cy="3168127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000999" y="1691640"/>
            <a:ext cx="364205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Interactive map + the top viral tweets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All 75 districts, colour-coded by activity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Handle → opens that person’s X profile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View Post button → opens the exact tweet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Party · Date · Sentiment · Likes · RT · Views per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999" y="5532120"/>
            <a:ext cx="364205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5650992"/>
            <a:ext cx="3276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See where the noise is — and the exact posts driving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MLA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Seat-by-seat, MLA-level view</a:t>
            </a:r>
          </a:p>
        </p:txBody>
      </p:sp>
      <p:pic>
        <p:nvPicPr>
          <p:cNvPr id="6" name="Picture 5" descr="mk_m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766560" cy="3331229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18119" y="1691640"/>
            <a:ext cx="38249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Activity of individual MLAs across UP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Drill from state → assembly-constituency member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Tweet volume and engagement per MLA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Compare representatives side by side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Built for ground-level, seat-by-seat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19" y="5532120"/>
            <a:ext cx="382493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5650992"/>
            <a:ext cx="34591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The most active MLAs post 1,600–1,750 tweets each over the period.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Hashtags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The narratives being pushed</a:t>
            </a:r>
          </a:p>
        </p:txBody>
      </p:sp>
      <p:pic>
        <p:nvPicPr>
          <p:cNvPr id="6" name="Picture 5" descr="mk_hash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766560" cy="3342247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18119" y="1691640"/>
            <a:ext cx="38249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Top hashtags ranked by reach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Ranked by views, not just count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Party filter — attribute campaigns to a bloc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Spot coordinated / repeated messaging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Track a hashtag’s rise across the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19" y="5532120"/>
            <a:ext cx="382493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5650992"/>
            <a:ext cx="34591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#mannkibaat leads the period with 2.3 Cr views.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The mood of the conversation</a:t>
            </a:r>
          </a:p>
        </p:txBody>
      </p:sp>
      <p:pic>
        <p:nvPicPr>
          <p:cNvPr id="6" name="Picture 5" descr="mk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766560" cy="3842639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18119" y="1691640"/>
            <a:ext cx="38249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Positive / Neutral / Negative breakdown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Split across time and by party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See who is on the offensive vs defensive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Quantifies tone, not just volume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Extensible to Pro-/Anti-party labels (e.g. Pro-BJP, Anti-BJP)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19" y="5532120"/>
            <a:ext cx="382493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5650992"/>
            <a:ext cx="34591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Currently ~91% neutral; the model can be extended with party-stance categories.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Parties — the top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Party-level scoreboard</a:t>
            </a:r>
          </a:p>
        </p:txBody>
      </p:sp>
      <p:pic>
        <p:nvPicPr>
          <p:cNvPr id="6" name="Picture 5" descr="s_par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949440" cy="3100328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000999" y="1691640"/>
            <a:ext cx="364205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Overview cards, ranked by tweet volume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Tweets · Views · Likes · Retweets per party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Handle count and sentiment per party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UP-only — national/other-state parties auto-excluded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Click a card to filter the charts below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999" y="5532120"/>
            <a:ext cx="364205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5650992"/>
            <a:ext cx="3276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BJP dominates volume; SP and INC lead the opposition conversation.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How audiences are built over time</a:t>
            </a:r>
          </a:p>
        </p:txBody>
      </p:sp>
      <p:pic>
        <p:nvPicPr>
          <p:cNvPr id="6" name="Picture 5" descr="mk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766560" cy="3541377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818119" y="1691640"/>
            <a:ext cx="382493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Followers &amp; engagement trajectories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Per-handle and per-party growth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See who is gaining momentum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Time-series across the tracking window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Compare audience size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19" y="5532120"/>
            <a:ext cx="382493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999" y="5650992"/>
            <a:ext cx="34591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Tracks reach-building for the largest handles across the period.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The people behind the handles</a:t>
            </a:r>
          </a:p>
        </p:txBody>
      </p:sp>
      <p:pic>
        <p:nvPicPr>
          <p:cNvPr id="6" name="Picture 5" descr="mk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949440" cy="3771342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8000999" y="1691640"/>
            <a:ext cx="364205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Dedicated pages for key leaders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Chief Minister, Deputy CMs and top figures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Volume, reach and engagement at a glance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A quick who’s-who of the UP political map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Jump straight to a leader’s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999" y="5532120"/>
            <a:ext cx="3642055" cy="868680"/>
          </a:xfrm>
          <a:prstGeom prst="roundRect">
            <a:avLst>
              <a:gd name="adj" fmla="val 6000"/>
            </a:avLst>
          </a:prstGeom>
          <a:solidFill>
            <a:srgbClr val="FFF7EF"/>
          </a:solidFill>
          <a:ln w="1397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5650992"/>
            <a:ext cx="3276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65100"/>
                </a:solidFill>
                <a:latin typeface="Calibri"/>
              </a:rPr>
              <a:t>KEY INSIGHT  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324F"/>
                </a:solidFill>
                <a:latin typeface="Calibri"/>
              </a:rPr>
              <a:t>The CM, Deputy CMs and leading MPs each get a dedicated profile page.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Dependent, Data-Driven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Change any filter — cards and charts recompute live</a:t>
            </a:r>
          </a:p>
        </p:txBody>
      </p:sp>
      <p:pic>
        <p:nvPicPr>
          <p:cNvPr id="6" name="Picture 5" descr="s_filter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1478805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pic>
        <p:nvPicPr>
          <p:cNvPr id="7" name="Picture 6" descr="mk_date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2295625" cy="2423160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pic>
        <p:nvPicPr>
          <p:cNvPr id="8" name="Picture 7" descr="mk_party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383280"/>
            <a:ext cx="2295625" cy="2423160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172200" y="3429000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65100"/>
                </a:solidFill>
                <a:latin typeface="Cambria"/>
              </a:rPr>
              <a:t>Four linked filters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300" b="1" i="0">
                <a:solidFill>
                  <a:srgbClr val="16324F"/>
                </a:solidFill>
                <a:latin typeface="Calibri"/>
              </a:rPr>
              <a:t>Date range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All / Last 7 / Last 3 days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300" b="1" i="0">
                <a:solidFill>
                  <a:srgbClr val="16324F"/>
                </a:solidFill>
                <a:latin typeface="Calibri"/>
              </a:rPr>
              <a:t>Level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LS MP, RS MP, MLA, MLC, CM, Dy CM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300" b="1" i="0">
                <a:solidFill>
                  <a:srgbClr val="16324F"/>
                </a:solidFill>
                <a:latin typeface="Calibri"/>
              </a:rPr>
              <a:t>State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Uttar Pradesh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a:char="•"/>
            </a:pPr>
            <a:r>
              <a:rPr sz="1300" b="1" i="0">
                <a:solidFill>
                  <a:srgbClr val="16324F"/>
                </a:solidFill>
                <a:latin typeface="Calibri"/>
              </a:rPr>
              <a:t>Party</a:t>
            </a:r>
            <a:r>
              <a:rPr sz="1300" b="0" i="0">
                <a:solidFill>
                  <a:srgbClr val="222222"/>
                </a:solidFill>
                <a:latin typeface="Calibri"/>
              </a:rPr>
              <a:t> — every UP party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16324F"/>
                </a:solidFill>
                <a:latin typeface="Calibri"/>
              </a:rPr>
              <a:t>Date labels and "Today" always follow the latest date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6324F"/>
                </a:solidFill>
                <a:latin typeface="Cambria"/>
              </a:rPr>
              <a:t>Reports — instant keyword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914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B6B6B"/>
                </a:solidFill>
                <a:latin typeface="Calibri"/>
              </a:rPr>
              <a:t>Type a topic → get a formatted, downloadable report</a:t>
            </a:r>
          </a:p>
        </p:txBody>
      </p:sp>
      <p:pic>
        <p:nvPicPr>
          <p:cNvPr id="6" name="Picture 5" descr="s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904399"/>
          </a:xfrm>
          <a:prstGeom prst="rect">
            <a:avLst/>
          </a:prstGeom>
          <a:ln w="12700">
            <a:solidFill>
              <a:srgbClr val="E6DDD2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40080" y="288036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How it works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Enter a Topic + Keywords (e.g. "Ram Mandir, Ayodhya, ghotala")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The tweet text is scanned and the report builds instantly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Font typeface="Arial"/>
              <a:buChar a:char="•"/>
            </a:pPr>
            <a:r>
              <a:rPr sz="1250" b="0" i="0">
                <a:solidFill>
                  <a:srgbClr val="222222"/>
                </a:solidFill>
                <a:latin typeface="Calibri"/>
              </a:rPr>
              <a:t>Preview on screen, then download a full-colour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80360"/>
            <a:ext cx="5303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65100"/>
                </a:solidFill>
                <a:latin typeface="Cambria"/>
              </a:rPr>
              <a:t>Every report contains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250" b="1" i="0">
                <a:solidFill>
                  <a:srgbClr val="16324F"/>
                </a:solidFill>
                <a:latin typeface="Calibri"/>
              </a:rPr>
              <a:t>Overall Volume Summary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 — tweets, RT, likes, unique handles, total views, sentiment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Font typeface="Arial"/>
              <a:buChar a:char="•"/>
            </a:pPr>
            <a:r>
              <a:rPr sz="1250" b="1" i="0">
                <a:solidFill>
                  <a:srgbClr val="16324F"/>
                </a:solidFill>
                <a:latin typeface="Calibri"/>
              </a:rPr>
              <a:t>Party-wise Mentions by Position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 — CM/DyCM/MP/MLA + top tweet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Font typeface="Arial"/>
              <a:buChar a:char="•"/>
            </a:pPr>
            <a:r>
              <a:rPr sz="1250" b="1" i="0">
                <a:solidFill>
                  <a:srgbClr val="16324F"/>
                </a:solidFill>
                <a:latin typeface="Calibri"/>
              </a:rPr>
              <a:t>Key Insights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 — auto-generated with the exact date-range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4063898" cy="8229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6775704"/>
            <a:ext cx="4063898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6775704"/>
            <a:ext cx="4063898" cy="82296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9933"/>
                </a:solidFill>
                <a:latin typeface="Cambria"/>
              </a:rPr>
              <a:t>UTTAR PRADESH POLITICAL PULSE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E8D9C8"/>
                </a:solidFill>
                <a:latin typeface="Calibri"/>
              </a:rPr>
              <a:t>Every tab. Every angle. One clear view of UP’s political conversation.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65100"/>
                </a:solidFill>
                <a:latin typeface="Calibri"/>
              </a:rPr>
              <a:t>1,56,136 tweets   ·   545 handles   ·   75 districts   ·   5 parties   ·   Apr–Aug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